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Azeret Mono Medium" panose="020B0604020202020204" charset="0"/>
      <p:regular r:id="rId10"/>
    </p:embeddedFont>
    <p:embeddedFont>
      <p:font typeface="Krona One" panose="020B0604020202020204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SemiBold" panose="020B0706030804020204" pitchFamily="34" charset="0"/>
      <p:bold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700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756093"/>
            <a:ext cx="609584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DEVELOPED BY TEAM CYPHORA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0232" y="2059791"/>
            <a:ext cx="5587860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7200" kern="100" spc="-288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DeleGate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1441" y="3158231"/>
            <a:ext cx="558786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Intent-Aware Authorization &amp; Runtime Enforcement Layer for Multi-Agent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80" y="4512655"/>
            <a:ext cx="5587860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“Delegating a task does not mean delegating unlimited authority.”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71670" y="1735941"/>
            <a:ext cx="7948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219969" y="1746756"/>
            <a:ext cx="215894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1670" y="2956917"/>
            <a:ext cx="7948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219969" y="2743716"/>
            <a:ext cx="154936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1670" y="4107259"/>
            <a:ext cx="7948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66492" y="4061315"/>
            <a:ext cx="259708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71670" y="5487336"/>
            <a:ext cx="7948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delegation blind spot in multi-agent workflows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182092"/>
            <a:ext cx="2743131" cy="863600"/>
          </a:xfrm>
          <a:prstGeom prst="rect">
            <a:avLst/>
          </a:prstGeom>
          <a:solidFill>
            <a:srgbClr val="38877E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182092"/>
            <a:ext cx="2743131" cy="863600"/>
          </a:xfrm>
          <a:prstGeom prst="rect">
            <a:avLst/>
          </a:prstGeom>
          <a:solidFill>
            <a:srgbClr val="1F6E65"/>
          </a:solidFill>
          <a:ln/>
        </p:spPr>
      </p:sp>
      <p:sp>
        <p:nvSpPr>
          <p:cNvPr id="5" name="Text 3"/>
          <p:cNvSpPr/>
          <p:nvPr/>
        </p:nvSpPr>
        <p:spPr>
          <a:xfrm>
            <a:off x="1746206" y="1460024"/>
            <a:ext cx="107937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52716" y="1182092"/>
            <a:ext cx="2743131" cy="863600"/>
          </a:xfrm>
          <a:prstGeom prst="rect">
            <a:avLst/>
          </a:prstGeom>
          <a:solidFill>
            <a:srgbClr val="38877E"/>
          </a:solidFill>
          <a:ln/>
        </p:spPr>
      </p:sp>
      <p:sp>
        <p:nvSpPr>
          <p:cNvPr id="7" name="Shape 5"/>
          <p:cNvSpPr/>
          <p:nvPr/>
        </p:nvSpPr>
        <p:spPr>
          <a:xfrm>
            <a:off x="3352716" y="1182092"/>
            <a:ext cx="2743131" cy="863600"/>
          </a:xfrm>
          <a:prstGeom prst="rect">
            <a:avLst/>
          </a:prstGeom>
          <a:solidFill>
            <a:srgbClr val="1F6E65"/>
          </a:solidFill>
          <a:ln/>
        </p:spPr>
      </p:sp>
      <p:sp>
        <p:nvSpPr>
          <p:cNvPr id="8" name="Text 6"/>
          <p:cNvSpPr/>
          <p:nvPr/>
        </p:nvSpPr>
        <p:spPr>
          <a:xfrm>
            <a:off x="4335751" y="1460024"/>
            <a:ext cx="138654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48" y="1182092"/>
            <a:ext cx="2743131" cy="1743075"/>
          </a:xfrm>
          <a:prstGeom prst="rect">
            <a:avLst/>
          </a:prstGeom>
          <a:noFill/>
          <a:ln w="12700">
            <a:solidFill>
              <a:srgbClr val="F58E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547" y="1194792"/>
            <a:ext cx="2717732" cy="863600"/>
          </a:xfrm>
          <a:prstGeom prst="rect">
            <a:avLst/>
          </a:prstGeom>
          <a:solidFill>
            <a:srgbClr val="38877E"/>
          </a:solidFill>
          <a:ln/>
        </p:spPr>
      </p:sp>
      <p:sp>
        <p:nvSpPr>
          <p:cNvPr id="11" name="Shape 9"/>
          <p:cNvSpPr/>
          <p:nvPr/>
        </p:nvSpPr>
        <p:spPr>
          <a:xfrm>
            <a:off x="6108547" y="1194792"/>
            <a:ext cx="2717633" cy="863600"/>
          </a:xfrm>
          <a:prstGeom prst="rect">
            <a:avLst/>
          </a:prstGeom>
          <a:solidFill>
            <a:srgbClr val="1F6E65"/>
          </a:solidFill>
          <a:ln/>
        </p:spPr>
      </p:sp>
      <p:sp>
        <p:nvSpPr>
          <p:cNvPr id="12" name="Text 10"/>
          <p:cNvSpPr/>
          <p:nvPr/>
        </p:nvSpPr>
        <p:spPr>
          <a:xfrm>
            <a:off x="7077394" y="1472724"/>
            <a:ext cx="13895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2146498"/>
            <a:ext cx="228594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Poisoned by untrusted text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38979" y="1182092"/>
            <a:ext cx="2743131" cy="1743075"/>
          </a:xfrm>
          <a:prstGeom prst="rect">
            <a:avLst/>
          </a:prstGeom>
          <a:noFill/>
          <a:ln w="12700">
            <a:solidFill>
              <a:srgbClr val="CB2F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51679" y="1194792"/>
            <a:ext cx="2717732" cy="863600"/>
          </a:xfrm>
          <a:prstGeom prst="rect">
            <a:avLst/>
          </a:prstGeom>
          <a:solidFill>
            <a:srgbClr val="38877E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1679" y="1194792"/>
            <a:ext cx="2717633" cy="863600"/>
          </a:xfrm>
          <a:prstGeom prst="rect">
            <a:avLst/>
          </a:prstGeom>
          <a:solidFill>
            <a:srgbClr val="1F6E65"/>
          </a:solidFill>
          <a:ln/>
        </p:spPr>
      </p:sp>
      <p:sp>
        <p:nvSpPr>
          <p:cNvPr id="17" name="Text 15"/>
          <p:cNvSpPr/>
          <p:nvPr/>
        </p:nvSpPr>
        <p:spPr>
          <a:xfrm>
            <a:off x="9897914" y="1472724"/>
            <a:ext cx="123484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67573" y="2146498"/>
            <a:ext cx="251453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Unauthorized execution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585" y="3153767"/>
            <a:ext cx="3454314" cy="2489795"/>
          </a:xfrm>
          <a:prstGeom prst="roundRect">
            <a:avLst>
              <a:gd name="adj" fmla="val 3642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78" y="3423960"/>
            <a:ext cx="294632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Uncontrolled multi-hop handoffs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3578" y="4157662"/>
            <a:ext cx="2946326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tools via MCP, LangGraph, CrewAI, AutoGen.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Orchestrator → Researcher → Tool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68691" y="3153767"/>
            <a:ext cx="3454314" cy="2489795"/>
          </a:xfrm>
          <a:prstGeom prst="roundRect">
            <a:avLst>
              <a:gd name="adj" fmla="val 3642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2684" y="3423960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Indirect prompt injection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22684" y="3862884"/>
            <a:ext cx="294632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OWASP LLM01. Untrusted tickets, pull requests and web scrapes hijack reasoning into unauthorized commands.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27797" y="3153767"/>
            <a:ext cx="3454314" cy="2489795"/>
          </a:xfrm>
          <a:prstGeom prst="roundRect">
            <a:avLst>
              <a:gd name="adj" fmla="val 3642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1790" y="3423960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 enterprise blind spot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81790" y="3862884"/>
            <a:ext cx="294632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EDRs and firewalls watch binaries and sockets. Tool calls under valid credentials look like normal developer activity.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9585" y="5938064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58E8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database wipes · IP exfiltration · Cascading business-interruption losses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04689"/>
            <a:ext cx="11124922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Intent becomes a machine-enforceable contract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33387" y="391884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684" y="4527074"/>
            <a:ext cx="21030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387" y="4774724"/>
            <a:ext cx="210308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88771" y="391884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788771" y="4379119"/>
            <a:ext cx="21031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88771" y="4774724"/>
            <a:ext cx="2103186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44254" y="391884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44254" y="4379119"/>
            <a:ext cx="21030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44254" y="4774724"/>
            <a:ext cx="210308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99638" y="391884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299638" y="4379119"/>
            <a:ext cx="21031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299638" y="4774724"/>
            <a:ext cx="2103186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55122" y="3918843"/>
            <a:ext cx="8565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9555122" y="4379119"/>
            <a:ext cx="21031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555122" y="4774724"/>
            <a:ext cx="210318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7684" y="5488424"/>
            <a:ext cx="149856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</a:pP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527237" y="5488424"/>
            <a:ext cx="149856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406790" y="5488424"/>
            <a:ext cx="149856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286343" y="5488424"/>
            <a:ext cx="1498563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8000"/>
              </a:lnSpc>
            </a:pP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165896" y="5488424"/>
            <a:ext cx="149856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45449" y="5488424"/>
            <a:ext cx="1498563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263E67-8634-293A-E198-6C0C82F7D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92" y="824865"/>
            <a:ext cx="11124923" cy="5975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Deterministic control at every delegation hop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848048"/>
            <a:ext cx="1950691" cy="3518495"/>
          </a:xfrm>
          <a:prstGeom prst="roundRect">
            <a:avLst>
              <a:gd name="adj" fmla="val 4648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780" y="2051248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50" y="2232223"/>
            <a:ext cx="215895" cy="215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2772291"/>
            <a:ext cx="15443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Inherit restrictions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2780" y="3508375"/>
            <a:ext cx="154430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Authority never expands beyond the root contract.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864969" y="1848048"/>
            <a:ext cx="1950691" cy="3518495"/>
          </a:xfrm>
          <a:prstGeom prst="roundRect">
            <a:avLst>
              <a:gd name="adj" fmla="val 4648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8164" y="2051248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134" y="2232223"/>
            <a:ext cx="215895" cy="215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8164" y="2772291"/>
            <a:ext cx="15443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Least privilege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068164" y="3508375"/>
            <a:ext cx="154430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 and API boundary. Under 10ms. No LLM re-prompting.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120353" y="1848048"/>
            <a:ext cx="1950889" cy="3518495"/>
          </a:xfrm>
          <a:prstGeom prst="roundRect">
            <a:avLst>
              <a:gd name="adj" fmla="val 4648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323548" y="2051248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519" y="2232223"/>
            <a:ext cx="215895" cy="215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23548" y="2772291"/>
            <a:ext cx="154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Tri-state decisions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5323548" y="3508375"/>
            <a:ext cx="15445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Allow, Deny, or Require human approval.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375936" y="1848048"/>
            <a:ext cx="1950691" cy="3518495"/>
          </a:xfrm>
          <a:prstGeom prst="roundRect">
            <a:avLst>
              <a:gd name="adj" fmla="val 4648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79131" y="2051248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101" y="2232223"/>
            <a:ext cx="215895" cy="215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9131" y="2772291"/>
            <a:ext cx="1544301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Cross-vendor translation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579131" y="3508375"/>
            <a:ext cx="154430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contract across heterogeneous agents and API permission models.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631320" y="1848048"/>
            <a:ext cx="1950790" cy="3518495"/>
          </a:xfrm>
          <a:prstGeom prst="roundRect">
            <a:avLst>
              <a:gd name="adj" fmla="val 4648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834515" y="2051248"/>
            <a:ext cx="523862" cy="523875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5485" y="2205236"/>
            <a:ext cx="161921" cy="215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34515" y="2718316"/>
            <a:ext cx="15444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Full auditability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9834515" y="3454400"/>
            <a:ext cx="15444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Cryptographic log of the delegation chain, decisions and reasons.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Legacy defenses miss agent-to-agent handoffs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786481"/>
              </p:ext>
            </p:extLst>
          </p:nvPr>
        </p:nvGraphicFramePr>
        <p:xfrm>
          <a:off x="609585" y="1734741"/>
          <a:ext cx="11015921" cy="3732416"/>
        </p:xfrm>
        <a:graphic>
          <a:graphicData uri="http://schemas.openxmlformats.org/drawingml/2006/table">
            <a:tbl>
              <a:tblPr/>
              <a:tblGrid>
                <a:gridCol w="2579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7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EDR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guardrails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Static API gateways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DeleGate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8E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CrowdStrike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SentinelOne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NeMo Guardrails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Llama Guard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Kong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Apigee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Cyphora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OS binaries and kernel calls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Prompt tokens at ingress and egress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Long-lived OAuth scopes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Dynamic, prompt-scoped, multi-hop contracts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46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× Blind to LLM context and handoff drift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× Misses multi-hop tool execution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× Cannot issue ephemeral, prompt-scoped parameters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4EFE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 Deterministic microsecond enforcement at runtime tool boundaries</a:t>
                      </a:r>
                      <a:endParaRPr lang="en-US" sz="15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1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61921" marR="161921" marT="114297" marB="114297" anchor="ctr">
                    <a:lnL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8E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Runtime enforcement of DPDP 2023 and OWASP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837630"/>
            <a:ext cx="3454314" cy="3539331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578" y="2091630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02" y="2164655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812673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Purpose limitation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3256201"/>
            <a:ext cx="32003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FD3CB"/>
                </a:solidFill>
                <a:latin typeface="Azeret Mono Medium" pitchFamily="34" charset="0"/>
                <a:ea typeface="Azeret Mono Medium" pitchFamily="34" charset="-122"/>
                <a:cs typeface="Azeret Mono Medium" pitchFamily="34" charset="-120"/>
              </a:rPr>
              <a:t>DPDP ACT 2023 · SECTION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3578" y="3560485"/>
            <a:ext cx="2946326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data is processed only for the consented purpose. DeleGate blocks downstream agents from repurposing 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1837630"/>
            <a:ext cx="3454314" cy="3539331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2684" y="2091630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708" y="2164655"/>
            <a:ext cx="431789" cy="431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2684" y="2812673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Sovereign data protection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2684" y="3251914"/>
            <a:ext cx="2946326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Stops agents exfiltrating Indian citizen PII to third-party LLM APIs.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22684" y="4317702"/>
            <a:ext cx="320032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Aadhaar · PAN · Phone numbers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127797" y="1837630"/>
            <a:ext cx="3454314" cy="3539331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81790" y="2091630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813" y="2164655"/>
            <a:ext cx="431789" cy="431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790" y="2812673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OWASP LLM Top 10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81790" y="3249216"/>
            <a:ext cx="2946326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LLM06 Excessive Agency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LLM01 Indirect Prompt Injection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LLM02 Sensitive Information Disclosure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3289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78" dirty="0">
                <a:solidFill>
                  <a:srgbClr val="F4EFEA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High-margin ARR and lower insured risk for Mitigata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09585" y="1270992"/>
            <a:ext cx="3454314" cy="4050605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578" y="1524992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49" y="1705967"/>
            <a:ext cx="215895" cy="215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578" y="2246035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Proprietary SaaS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2667337"/>
            <a:ext cx="29463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63" dirty="0">
                <a:solidFill>
                  <a:srgbClr val="F58E84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80%+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3578" y="3156248"/>
            <a:ext cx="2946326" cy="1911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margin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AI Governance &amp; MCP Security module. ₹1,500 per developer seat per month.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Net-new recurring ARR, not OEM reselling.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68691" y="1270992"/>
            <a:ext cx="3454314" cy="4050605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2684" y="1524992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55" y="1705967"/>
            <a:ext cx="215895" cy="215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2684" y="2246035"/>
            <a:ext cx="29463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Loss ratio optimization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22684" y="2684959"/>
            <a:ext cx="2946326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De-risks Mitigata's IRDAI-regulated cyber insurance portfolio by preventing autonomous-agent business-interruption claims.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270992"/>
            <a:ext cx="3454314" cy="4050605"/>
          </a:xfrm>
          <a:prstGeom prst="roundRect">
            <a:avLst>
              <a:gd name="adj" fmla="val 2625"/>
            </a:avLst>
          </a:prstGeom>
          <a:noFill/>
          <a:ln w="25399">
            <a:solidFill>
              <a:srgbClr val="38877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1790" y="1524992"/>
            <a:ext cx="577836" cy="577850"/>
          </a:xfrm>
          <a:prstGeom prst="ellipse">
            <a:avLst/>
          </a:prstGeom>
          <a:noFill/>
          <a:ln w="19050">
            <a:solidFill>
              <a:srgbClr val="F58E8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761" y="1705967"/>
            <a:ext cx="215895" cy="215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1790" y="2246035"/>
            <a:ext cx="294632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4EFE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Gordon AI platform enrichment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1790" y="2982119"/>
            <a:ext cx="2946326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4EFE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“Privilege Drift” and “Autonomous Lateral Movement” threat telemetry to Mitigata's AI SOC.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09585" y="5883275"/>
            <a:ext cx="1158211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F58E8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“DeleGate: Keeping Autonomous AI Fleets Strictly Within Their Human Mandate.”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425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Krona One</vt:lpstr>
      <vt:lpstr>Open Sans SemiBold</vt:lpstr>
      <vt:lpstr>Open Sans</vt:lpstr>
      <vt:lpstr>Arial</vt:lpstr>
      <vt:lpstr>Azeret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Harini</dc:creator>
  <cp:lastModifiedBy>Harini S</cp:lastModifiedBy>
  <cp:revision>4</cp:revision>
  <dcterms:created xsi:type="dcterms:W3CDTF">2026-10-18T07:58:13Z</dcterms:created>
  <dcterms:modified xsi:type="dcterms:W3CDTF">2026-10-18T08:41:12Z</dcterms:modified>
</cp:coreProperties>
</file>